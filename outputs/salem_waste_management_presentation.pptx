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present Team DraXon's AI-powered Geo-Tagged Waste Reporting and Tracking system, designed to transform municipal waste management through computer vision, automated priority dispatch, and verified cleanups.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examine the staggering data. In Tamil Nadu alone, 5,000 tonnes of municipal waste ends up dumped in open drains, roadsides, and unmanaged sites every single day because current reporting mechanisms lack speed, proof, and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closes the loop from citizen reporting to verified cleanup. Citizens upload photos which are instantly classified by vision AI and mapped to real-time heatmaps for rapid municipal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 stack combines mobile-first React Native with high-performance computer vision. MobileNetV2 handles initial validation on low latency, YOLOv8 identifies hazardous materials, and Siamese Networks compare pre- and post-cleanup photos.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to legacy apps like the Swachhata App, DraXon provides end-to-end auditability. Cleaners cannot submit false completion reports because Siamese neural networks mathematically verify cleanliness before credits are issued.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solved the adoption problem through economic alignment. Citizens are incentivized to report, and sanitation workers receive bonuses upon verified cleanup, creating a self-sustaining civic ecosystem.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phased deployment begins in priority urban hotspots, transitioning municipal sanitation from reactive complaints to predictive, AI-driven dispatch.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We are ready to answer your questions and demonstrate the live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011680"/>
            <a:ext cx="137160" cy="2926080"/>
          </a:xfrm>
          <a:prstGeom prst="rect">
            <a:avLst/>
          </a:prstGeom>
          <a:solidFill>
            <a:srgbClr val="1ED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828800"/>
            <a:ext cx="9875520" cy="3200400"/>
          </a:xfrm>
          <a:prstGeom prst="rect">
            <a:avLst/>
          </a:prstGeom>
          <a:noFill/>
        </p:spPr>
        <p:txBody>
          <a:bodyPr wrap="square">
            <a:spAutoFit/>
          </a:bodyPr>
          <a:lstStyle/>
          <a:p>
            <a:pPr>
              <a:spcAft>
                <a:spcPts val="1400"/>
              </a:spcAft>
              <a:defRPr sz="4400" b="1">
                <a:solidFill>
                  <a:srgbClr val="FFFFFF"/>
                </a:solidFill>
                <a:latin typeface="Segoe UI"/>
              </a:defRPr>
            </a:pPr>
            <a:r>
              <a:t>Geo-Tagged Waste Reporting and Tracking</a:t>
            </a:r>
          </a:p>
          <a:p>
            <a:pPr>
              <a:defRPr sz="2200">
                <a:solidFill>
                  <a:srgbClr val="B3B3B3"/>
                </a:solidFill>
                <a:latin typeface="Segoe UI"/>
              </a:defRPr>
            </a:pPr>
            <a:r>
              <a:t>AI-Driven Urban Sanitation &amp; Verification Platform • Team DraXon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51560"/>
            <a:ext cx="10728655" cy="36576"/>
          </a:xfrm>
          <a:prstGeom prst="rect">
            <a:avLst/>
          </a:prstGeom>
          <a:solidFill>
            <a:srgbClr val="1ED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728655" cy="822960"/>
          </a:xfrm>
          <a:prstGeom prst="rect">
            <a:avLst/>
          </a:prstGeom>
          <a:noFill/>
        </p:spPr>
        <p:txBody>
          <a:bodyPr wrap="square">
            <a:spAutoFit/>
          </a:bodyPr>
          <a:lstStyle/>
          <a:p>
            <a:pPr>
              <a:defRPr sz="2800" b="1">
                <a:solidFill>
                  <a:srgbClr val="FFFFFF"/>
                </a:solidFill>
                <a:latin typeface="Segoe UI"/>
              </a:defRPr>
            </a:pPr>
            <a:r>
              <a:t>The Urban Waste Crisis: Real-World Ground Truth</a:t>
            </a:r>
          </a:p>
        </p:txBody>
      </p:sp>
      <p:sp>
        <p:nvSpPr>
          <p:cNvPr id="6" name="TextBox 5"/>
          <p:cNvSpPr txBox="1"/>
          <p:nvPr/>
        </p:nvSpPr>
        <p:spPr>
          <a:xfrm>
            <a:off x="731520" y="1371600"/>
            <a:ext cx="10728655" cy="4114800"/>
          </a:xfrm>
          <a:prstGeom prst="rect">
            <a:avLst/>
          </a:prstGeom>
          <a:noFill/>
        </p:spPr>
        <p:txBody>
          <a:bodyPr wrap="square">
            <a:spAutoFit/>
          </a:bodyPr>
          <a:lstStyle/>
          <a:p>
            <a:pPr>
              <a:spcAft>
                <a:spcPts val="1400"/>
              </a:spcAft>
              <a:defRPr sz="1800">
                <a:solidFill>
                  <a:srgbClr val="DCDCDC"/>
                </a:solidFill>
                <a:latin typeface="Segoe UI"/>
              </a:defRPr>
            </a:pPr>
            <a:r>
              <a:t>•  Delhi generates &gt;11,000 tons of solid waste daily, leading to overwhelmed landfills and stakeholder bottlenecks.</a:t>
            </a:r>
          </a:p>
          <a:p>
            <a:pPr>
              <a:spcAft>
                <a:spcPts val="1400"/>
              </a:spcAft>
              <a:defRPr sz="1800">
                <a:solidFill>
                  <a:srgbClr val="DCDCDC"/>
                </a:solidFill>
                <a:latin typeface="Segoe UI"/>
              </a:defRPr>
            </a:pPr>
            <a:r>
              <a:t>•  Tamil Nadu generates 14,200 - 15,200 tonnes/day: while 66% is processed, ~34% (~5,000 tonnes/day) remains unmanaged.</a:t>
            </a:r>
          </a:p>
          <a:p>
            <a:pPr>
              <a:spcAft>
                <a:spcPts val="1400"/>
              </a:spcAft>
              <a:defRPr sz="1800">
                <a:solidFill>
                  <a:srgbClr val="DCDCDC"/>
                </a:solidFill>
                <a:latin typeface="Segoe UI"/>
              </a:defRPr>
            </a:pPr>
            <a:r>
              <a:t>•  Manual reporting systems rely on vague text complaints with zero visual proof and no urgency classification.</a:t>
            </a:r>
          </a:p>
          <a:p>
            <a:pPr>
              <a:spcAft>
                <a:spcPts val="1400"/>
              </a:spcAft>
              <a:defRPr sz="1800">
                <a:solidFill>
                  <a:srgbClr val="DCDCDC"/>
                </a:solidFill>
                <a:latin typeface="Segoe UI"/>
              </a:defRPr>
            </a:pPr>
            <a:r>
              <a:t>•  Delayed response times cause severe public health hazards, toxic drain blockages, and environmental degradation.</a:t>
            </a:r>
          </a:p>
        </p:txBody>
      </p:sp>
      <p:sp>
        <p:nvSpPr>
          <p:cNvPr id="7" name="Rounded Rectangle 6"/>
          <p:cNvSpPr/>
          <p:nvPr/>
        </p:nvSpPr>
        <p:spPr>
          <a:xfrm>
            <a:off x="731520" y="5760720"/>
            <a:ext cx="7772400" cy="731520"/>
          </a:xfrm>
          <a:prstGeom prst="roundRect">
            <a:avLst/>
          </a:prstGeom>
          <a:solidFill>
            <a:srgbClr val="202020"/>
          </a:solidFill>
          <a:ln>
            <a:solidFill>
              <a:srgbClr val="1ED7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806440"/>
            <a:ext cx="7589520" cy="640080"/>
          </a:xfrm>
          <a:prstGeom prst="rect">
            <a:avLst/>
          </a:prstGeom>
          <a:noFill/>
        </p:spPr>
        <p:txBody>
          <a:bodyPr wrap="square">
            <a:spAutoFit/>
          </a:bodyPr>
          <a:lstStyle/>
          <a:p>
            <a:pPr>
              <a:defRPr sz="1100" i="1">
                <a:solidFill>
                  <a:srgbClr val="1ED760"/>
                </a:solidFill>
                <a:latin typeface="Segoe UI"/>
              </a:defRPr>
            </a:pPr>
            <a:r>
              <a:t>Visual Concept: Split statistics card highlighting 11,000 T/day Delhi vs 15,200 T/day Tamil Nadu with 34% unmanaged gap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51560"/>
            <a:ext cx="10728655" cy="36576"/>
          </a:xfrm>
          <a:prstGeom prst="rect">
            <a:avLst/>
          </a:prstGeom>
          <a:solidFill>
            <a:srgbClr val="1ED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728655" cy="822960"/>
          </a:xfrm>
          <a:prstGeom prst="rect">
            <a:avLst/>
          </a:prstGeom>
          <a:noFill/>
        </p:spPr>
        <p:txBody>
          <a:bodyPr wrap="square">
            <a:spAutoFit/>
          </a:bodyPr>
          <a:lstStyle/>
          <a:p>
            <a:pPr>
              <a:defRPr sz="2800" b="1">
                <a:solidFill>
                  <a:srgbClr val="FFFFFF"/>
                </a:solidFill>
                <a:latin typeface="Segoe UI"/>
              </a:defRPr>
            </a:pPr>
            <a:r>
              <a:t>Our Solution: Closed-Loop AI &amp; Geo-Tracking</a:t>
            </a:r>
          </a:p>
        </p:txBody>
      </p:sp>
      <p:sp>
        <p:nvSpPr>
          <p:cNvPr id="6" name="TextBox 5"/>
          <p:cNvSpPr txBox="1"/>
          <p:nvPr/>
        </p:nvSpPr>
        <p:spPr>
          <a:xfrm>
            <a:off x="731520" y="1371600"/>
            <a:ext cx="10728655" cy="4114800"/>
          </a:xfrm>
          <a:prstGeom prst="rect">
            <a:avLst/>
          </a:prstGeom>
          <a:noFill/>
        </p:spPr>
        <p:txBody>
          <a:bodyPr wrap="square">
            <a:spAutoFit/>
          </a:bodyPr>
          <a:lstStyle/>
          <a:p>
            <a:pPr>
              <a:spcAft>
                <a:spcPts val="1400"/>
              </a:spcAft>
              <a:defRPr sz="1800">
                <a:solidFill>
                  <a:srgbClr val="DCDCDC"/>
                </a:solidFill>
                <a:latin typeface="Segoe UI"/>
              </a:defRPr>
            </a:pPr>
            <a:r>
              <a:t>•  Citizen Photo Upload: Instant camera capture with automatic GPS geo-tagging prevents fake reports.</a:t>
            </a:r>
          </a:p>
          <a:p>
            <a:pPr>
              <a:spcAft>
                <a:spcPts val="1400"/>
              </a:spcAft>
              <a:defRPr sz="1800">
                <a:solidFill>
                  <a:srgbClr val="DCDCDC"/>
                </a:solidFill>
                <a:latin typeface="Segoe UI"/>
              </a:defRPr>
            </a:pPr>
            <a:r>
              <a:t>•  Automated AI Dual-Verification: MobileNetV2 screens waste vs non-waste; YOLOv8 classifies waste typology.</a:t>
            </a:r>
          </a:p>
          <a:p>
            <a:pPr>
              <a:spcAft>
                <a:spcPts val="1400"/>
              </a:spcAft>
              <a:defRPr sz="1800">
                <a:solidFill>
                  <a:srgbClr val="DCDCDC"/>
                </a:solidFill>
                <a:latin typeface="Segoe UI"/>
              </a:defRPr>
            </a:pPr>
            <a:r>
              <a:t>•  Dynamic Priority Escalation: Heatmap clustering automatically elevates priority for recurrent reports.</a:t>
            </a:r>
          </a:p>
          <a:p>
            <a:pPr>
              <a:spcAft>
                <a:spcPts val="1400"/>
              </a:spcAft>
              <a:defRPr sz="1800">
                <a:solidFill>
                  <a:srgbClr val="DCDCDC"/>
                </a:solidFill>
                <a:latin typeface="Segoe UI"/>
              </a:defRPr>
            </a:pPr>
            <a:r>
              <a:t>•  Task Dispatch &amp; Route Routing: Municipal cleaners receive geotargeted pickup tasks directly on mobile.</a:t>
            </a:r>
          </a:p>
          <a:p>
            <a:pPr>
              <a:spcAft>
                <a:spcPts val="1400"/>
              </a:spcAft>
              <a:defRPr sz="1800">
                <a:solidFill>
                  <a:srgbClr val="DCDCDC"/>
                </a:solidFill>
                <a:latin typeface="Segoe UI"/>
              </a:defRPr>
            </a:pPr>
            <a:r>
              <a:t>•  Before/After Verification: Siamese Neural Network validates cleanliness before granting incentive rewards.</a:t>
            </a:r>
          </a:p>
        </p:txBody>
      </p:sp>
      <p:sp>
        <p:nvSpPr>
          <p:cNvPr id="7" name="Rounded Rectangle 6"/>
          <p:cNvSpPr/>
          <p:nvPr/>
        </p:nvSpPr>
        <p:spPr>
          <a:xfrm>
            <a:off x="731520" y="5760720"/>
            <a:ext cx="7772400" cy="731520"/>
          </a:xfrm>
          <a:prstGeom prst="roundRect">
            <a:avLst/>
          </a:prstGeom>
          <a:solidFill>
            <a:srgbClr val="202020"/>
          </a:solidFill>
          <a:ln>
            <a:solidFill>
              <a:srgbClr val="1ED7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806440"/>
            <a:ext cx="7589520" cy="640080"/>
          </a:xfrm>
          <a:prstGeom prst="rect">
            <a:avLst/>
          </a:prstGeom>
          <a:noFill/>
        </p:spPr>
        <p:txBody>
          <a:bodyPr wrap="square">
            <a:spAutoFit/>
          </a:bodyPr>
          <a:lstStyle/>
          <a:p>
            <a:pPr>
              <a:defRPr sz="1100" i="1">
                <a:solidFill>
                  <a:srgbClr val="1ED760"/>
                </a:solidFill>
                <a:latin typeface="Segoe UI"/>
              </a:defRPr>
            </a:pPr>
            <a:r>
              <a:t>Visual Concept: Step-by-step 5-stage closed loop workflow diagram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51560"/>
            <a:ext cx="10728655" cy="36576"/>
          </a:xfrm>
          <a:prstGeom prst="rect">
            <a:avLst/>
          </a:prstGeom>
          <a:solidFill>
            <a:srgbClr val="1ED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728655" cy="822960"/>
          </a:xfrm>
          <a:prstGeom prst="rect">
            <a:avLst/>
          </a:prstGeom>
          <a:noFill/>
        </p:spPr>
        <p:txBody>
          <a:bodyPr wrap="square">
            <a:spAutoFit/>
          </a:bodyPr>
          <a:lstStyle/>
          <a:p>
            <a:pPr>
              <a:defRPr sz="2800" b="1">
                <a:solidFill>
                  <a:srgbClr val="FFFFFF"/>
                </a:solidFill>
                <a:latin typeface="Segoe UI"/>
              </a:defRPr>
            </a:pPr>
            <a:r>
              <a:t>Technical Architecture &amp; Deep Learning Stack</a:t>
            </a:r>
          </a:p>
        </p:txBody>
      </p:sp>
      <p:sp>
        <p:nvSpPr>
          <p:cNvPr id="6" name="Rounded Rectangle 5"/>
          <p:cNvSpPr/>
          <p:nvPr/>
        </p:nvSpPr>
        <p:spPr>
          <a:xfrm>
            <a:off x="731520" y="1463040"/>
            <a:ext cx="5120640" cy="4023360"/>
          </a:xfrm>
          <a:prstGeom prst="roundRect">
            <a:avLst/>
          </a:prstGeom>
          <a:solidFill>
            <a:srgbClr val="202020"/>
          </a:solidFill>
          <a:ln>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754880" cy="3657600"/>
          </a:xfrm>
          <a:prstGeom prst="rect">
            <a:avLst/>
          </a:prstGeom>
          <a:noFill/>
        </p:spPr>
        <p:txBody>
          <a:bodyPr wrap="square">
            <a:spAutoFit/>
          </a:bodyPr>
          <a:lstStyle/>
          <a:p>
            <a:pPr>
              <a:spcAft>
                <a:spcPts val="1200"/>
              </a:spcAft>
              <a:defRPr sz="1600">
                <a:solidFill>
                  <a:srgbClr val="DCDCDC"/>
                </a:solidFill>
                <a:latin typeface="Segoe UI"/>
              </a:defRPr>
            </a:pPr>
            <a:r>
              <a:t>•  Client &amp; Backend Infrastructure:</a:t>
            </a:r>
          </a:p>
          <a:p>
            <a:pPr>
              <a:spcAft>
                <a:spcPts val="1200"/>
              </a:spcAft>
              <a:defRPr sz="1600">
                <a:solidFill>
                  <a:srgbClr val="DCDCDC"/>
                </a:solidFill>
                <a:latin typeface="Segoe UI"/>
              </a:defRPr>
            </a:pPr>
            <a:r>
              <a:t>•  • Frontend: React Native (Cross-Platform Mobile)</a:t>
            </a:r>
          </a:p>
          <a:p>
            <a:pPr>
              <a:spcAft>
                <a:spcPts val="1200"/>
              </a:spcAft>
              <a:defRPr sz="1600">
                <a:solidFill>
                  <a:srgbClr val="DCDCDC"/>
                </a:solidFill>
                <a:latin typeface="Segoe UI"/>
              </a:defRPr>
            </a:pPr>
            <a:r>
              <a:t>•  • Backend Engine: Node.js High-Throughput REST API</a:t>
            </a:r>
          </a:p>
          <a:p>
            <a:pPr>
              <a:spcAft>
                <a:spcPts val="1200"/>
              </a:spcAft>
              <a:defRPr sz="1600">
                <a:solidFill>
                  <a:srgbClr val="DCDCDC"/>
                </a:solidFill>
                <a:latin typeface="Segoe UI"/>
              </a:defRPr>
            </a:pPr>
            <a:r>
              <a:t>•  • Database: MongoDB Geospatial Document Store</a:t>
            </a:r>
          </a:p>
          <a:p>
            <a:pPr>
              <a:spcAft>
                <a:spcPts val="1200"/>
              </a:spcAft>
              <a:defRPr sz="1600">
                <a:solidFill>
                  <a:srgbClr val="DCDCDC"/>
                </a:solidFill>
                <a:latin typeface="Segoe UI"/>
              </a:defRPr>
            </a:pPr>
            <a:r>
              <a:t>•  • Geo-Services: Google Maps API &amp; Spatial Indexing</a:t>
            </a:r>
          </a:p>
        </p:txBody>
      </p:sp>
      <p:sp>
        <p:nvSpPr>
          <p:cNvPr id="8" name="Rounded Rectangle 7"/>
          <p:cNvSpPr/>
          <p:nvPr/>
        </p:nvSpPr>
        <p:spPr>
          <a:xfrm>
            <a:off x="6339535" y="1463040"/>
            <a:ext cx="5120640" cy="4023360"/>
          </a:xfrm>
          <a:prstGeom prst="roundRect">
            <a:avLst/>
          </a:prstGeom>
          <a:solidFill>
            <a:srgbClr val="202020"/>
          </a:solidFill>
          <a:ln>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645920"/>
            <a:ext cx="4754880" cy="3657600"/>
          </a:xfrm>
          <a:prstGeom prst="rect">
            <a:avLst/>
          </a:prstGeom>
          <a:noFill/>
        </p:spPr>
        <p:txBody>
          <a:bodyPr wrap="square">
            <a:spAutoFit/>
          </a:bodyPr>
          <a:lstStyle/>
          <a:p>
            <a:pPr>
              <a:spcAft>
                <a:spcPts val="1200"/>
              </a:spcAft>
              <a:defRPr sz="1600">
                <a:solidFill>
                  <a:srgbClr val="DCDCDC"/>
                </a:solidFill>
                <a:latin typeface="Segoe UI"/>
              </a:defRPr>
            </a:pPr>
            <a:r>
              <a:t>•  AI / Computer Vision Pipeline:</a:t>
            </a:r>
          </a:p>
          <a:p>
            <a:pPr>
              <a:spcAft>
                <a:spcPts val="1200"/>
              </a:spcAft>
              <a:defRPr sz="1600">
                <a:solidFill>
                  <a:srgbClr val="DCDCDC"/>
                </a:solidFill>
                <a:latin typeface="Segoe UI"/>
              </a:defRPr>
            </a:pPr>
            <a:r>
              <a:t>•  • Waste Detection: MobileNetV2 (Edge-optimized)</a:t>
            </a:r>
          </a:p>
          <a:p>
            <a:pPr>
              <a:spcAft>
                <a:spcPts val="1200"/>
              </a:spcAft>
              <a:defRPr sz="1600">
                <a:solidFill>
                  <a:srgbClr val="DCDCDC"/>
                </a:solidFill>
                <a:latin typeface="Segoe UI"/>
              </a:defRPr>
            </a:pPr>
            <a:r>
              <a:t>•  • Waste Classification: YOLOv8 Object Detection</a:t>
            </a:r>
          </a:p>
          <a:p>
            <a:pPr>
              <a:spcAft>
                <a:spcPts val="1200"/>
              </a:spcAft>
              <a:defRPr sz="1600">
                <a:solidFill>
                  <a:srgbClr val="DCDCDC"/>
                </a:solidFill>
                <a:latin typeface="Segoe UI"/>
              </a:defRPr>
            </a:pPr>
            <a:r>
              <a:t>•  • Cleanup Verification: Siamese Neural Network</a:t>
            </a:r>
          </a:p>
          <a:p>
            <a:pPr>
              <a:spcAft>
                <a:spcPts val="1200"/>
              </a:spcAft>
              <a:defRPr sz="1600">
                <a:solidFill>
                  <a:srgbClr val="DCDCDC"/>
                </a:solidFill>
                <a:latin typeface="Segoe UI"/>
              </a:defRPr>
            </a:pPr>
            <a:r>
              <a:t>•  • Ingestion Speed: Sub-second AI inference</a:t>
            </a:r>
          </a:p>
        </p:txBody>
      </p:sp>
      <p:sp>
        <p:nvSpPr>
          <p:cNvPr id="10" name="Rounded Rectangle 9"/>
          <p:cNvSpPr/>
          <p:nvPr/>
        </p:nvSpPr>
        <p:spPr>
          <a:xfrm>
            <a:off x="731520" y="5760720"/>
            <a:ext cx="7772400" cy="731520"/>
          </a:xfrm>
          <a:prstGeom prst="roundRect">
            <a:avLst/>
          </a:prstGeom>
          <a:solidFill>
            <a:srgbClr val="202020"/>
          </a:solidFill>
          <a:ln>
            <a:solidFill>
              <a:srgbClr val="1ED7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806440"/>
            <a:ext cx="7589520" cy="640080"/>
          </a:xfrm>
          <a:prstGeom prst="rect">
            <a:avLst/>
          </a:prstGeom>
          <a:noFill/>
        </p:spPr>
        <p:txBody>
          <a:bodyPr wrap="square">
            <a:spAutoFit/>
          </a:bodyPr>
          <a:lstStyle/>
          <a:p>
            <a:pPr>
              <a:defRPr sz="1100" i="1">
                <a:solidFill>
                  <a:srgbClr val="1ED760"/>
                </a:solidFill>
                <a:latin typeface="Segoe UI"/>
              </a:defRPr>
            </a:pPr>
            <a:r>
              <a:t>Visual Concept: Two-column architectural blueprint comparing application tier vs AI model inference tier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51560"/>
            <a:ext cx="10728655" cy="36576"/>
          </a:xfrm>
          <a:prstGeom prst="rect">
            <a:avLst/>
          </a:prstGeom>
          <a:solidFill>
            <a:srgbClr val="1ED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728655" cy="822960"/>
          </a:xfrm>
          <a:prstGeom prst="rect">
            <a:avLst/>
          </a:prstGeom>
          <a:noFill/>
        </p:spPr>
        <p:txBody>
          <a:bodyPr wrap="square">
            <a:spAutoFit/>
          </a:bodyPr>
          <a:lstStyle/>
          <a:p>
            <a:pPr>
              <a:defRPr sz="2800" b="1">
                <a:solidFill>
                  <a:srgbClr val="FFFFFF"/>
                </a:solidFill>
                <a:latin typeface="Segoe UI"/>
              </a:defRPr>
            </a:pPr>
            <a:r>
              <a:t>Competitive Advantage vs Existing Systems</a:t>
            </a:r>
          </a:p>
        </p:txBody>
      </p:sp>
      <p:sp>
        <p:nvSpPr>
          <p:cNvPr id="6" name="Rounded Rectangle 5"/>
          <p:cNvSpPr/>
          <p:nvPr/>
        </p:nvSpPr>
        <p:spPr>
          <a:xfrm>
            <a:off x="731520" y="1463040"/>
            <a:ext cx="5120640" cy="4023360"/>
          </a:xfrm>
          <a:prstGeom prst="roundRect">
            <a:avLst/>
          </a:prstGeom>
          <a:solidFill>
            <a:srgbClr val="202020"/>
          </a:solidFill>
          <a:ln>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754880" cy="3657600"/>
          </a:xfrm>
          <a:prstGeom prst="rect">
            <a:avLst/>
          </a:prstGeom>
          <a:noFill/>
        </p:spPr>
        <p:txBody>
          <a:bodyPr wrap="square">
            <a:spAutoFit/>
          </a:bodyPr>
          <a:lstStyle/>
          <a:p>
            <a:pPr>
              <a:spcAft>
                <a:spcPts val="1200"/>
              </a:spcAft>
              <a:defRPr sz="1600">
                <a:solidFill>
                  <a:srgbClr val="DCDCDC"/>
                </a:solidFill>
                <a:latin typeface="Segoe UI"/>
              </a:defRPr>
            </a:pPr>
            <a:r>
              <a:t>•  Traditional Systems (e.g., Swachhata App):</a:t>
            </a:r>
          </a:p>
          <a:p>
            <a:pPr>
              <a:spcAft>
                <a:spcPts val="1200"/>
              </a:spcAft>
              <a:defRPr sz="1600">
                <a:solidFill>
                  <a:srgbClr val="DCDCDC"/>
                </a:solidFill>
                <a:latin typeface="Segoe UI"/>
              </a:defRPr>
            </a:pPr>
            <a:r>
              <a:t>•  • Manual text complaint logging</a:t>
            </a:r>
          </a:p>
          <a:p>
            <a:pPr>
              <a:spcAft>
                <a:spcPts val="1200"/>
              </a:spcAft>
              <a:defRPr sz="1600">
                <a:solidFill>
                  <a:srgbClr val="DCDCDC"/>
                </a:solidFill>
                <a:latin typeface="Segoe UI"/>
              </a:defRPr>
            </a:pPr>
            <a:r>
              <a:t>•  • Zero automated AI image validation</a:t>
            </a:r>
          </a:p>
          <a:p>
            <a:pPr>
              <a:spcAft>
                <a:spcPts val="1200"/>
              </a:spcAft>
              <a:defRPr sz="1600">
                <a:solidFill>
                  <a:srgbClr val="DCDCDC"/>
                </a:solidFill>
                <a:latin typeface="Segoe UI"/>
              </a:defRPr>
            </a:pPr>
            <a:r>
              <a:t>•  • No dynamic priority escalation for hazards</a:t>
            </a:r>
          </a:p>
          <a:p>
            <a:pPr>
              <a:spcAft>
                <a:spcPts val="1200"/>
              </a:spcAft>
              <a:defRPr sz="1600">
                <a:solidFill>
                  <a:srgbClr val="DCDCDC"/>
                </a:solidFill>
                <a:latin typeface="Segoe UI"/>
              </a:defRPr>
            </a:pPr>
            <a:r>
              <a:t>•  • Lack of proof for post-cleaning completion</a:t>
            </a:r>
          </a:p>
          <a:p>
            <a:pPr>
              <a:spcAft>
                <a:spcPts val="1200"/>
              </a:spcAft>
              <a:defRPr sz="1600">
                <a:solidFill>
                  <a:srgbClr val="DCDCDC"/>
                </a:solidFill>
                <a:latin typeface="Segoe UI"/>
              </a:defRPr>
            </a:pPr>
            <a:r>
              <a:t>•  • Low citizen engagement and high drop-off</a:t>
            </a:r>
          </a:p>
        </p:txBody>
      </p:sp>
      <p:sp>
        <p:nvSpPr>
          <p:cNvPr id="8" name="Rounded Rectangle 7"/>
          <p:cNvSpPr/>
          <p:nvPr/>
        </p:nvSpPr>
        <p:spPr>
          <a:xfrm>
            <a:off x="6339535" y="1463040"/>
            <a:ext cx="5120640" cy="4023360"/>
          </a:xfrm>
          <a:prstGeom prst="roundRect">
            <a:avLst/>
          </a:prstGeom>
          <a:solidFill>
            <a:srgbClr val="202020"/>
          </a:solidFill>
          <a:ln>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645920"/>
            <a:ext cx="4754880" cy="3657600"/>
          </a:xfrm>
          <a:prstGeom prst="rect">
            <a:avLst/>
          </a:prstGeom>
          <a:noFill/>
        </p:spPr>
        <p:txBody>
          <a:bodyPr wrap="square">
            <a:spAutoFit/>
          </a:bodyPr>
          <a:lstStyle/>
          <a:p>
            <a:pPr>
              <a:spcAft>
                <a:spcPts val="1200"/>
              </a:spcAft>
              <a:defRPr sz="1600">
                <a:solidFill>
                  <a:srgbClr val="DCDCDC"/>
                </a:solidFill>
                <a:latin typeface="Segoe UI"/>
              </a:defRPr>
            </a:pPr>
            <a:r>
              <a:t>•  DraXon AI-Driven Platform:</a:t>
            </a:r>
          </a:p>
          <a:p>
            <a:pPr>
              <a:spcAft>
                <a:spcPts val="1200"/>
              </a:spcAft>
              <a:defRPr sz="1600">
                <a:solidFill>
                  <a:srgbClr val="DCDCDC"/>
                </a:solidFill>
                <a:latin typeface="Segoe UI"/>
              </a:defRPr>
            </a:pPr>
            <a:r>
              <a:t>•  • Instant photo capture with verified GPS stamps</a:t>
            </a:r>
          </a:p>
          <a:p>
            <a:pPr>
              <a:spcAft>
                <a:spcPts val="1200"/>
              </a:spcAft>
              <a:defRPr sz="1600">
                <a:solidFill>
                  <a:srgbClr val="DCDCDC"/>
                </a:solidFill>
                <a:latin typeface="Segoe UI"/>
              </a:defRPr>
            </a:pPr>
            <a:r>
              <a:t>•  • Automated vision classification (YOLOv8)</a:t>
            </a:r>
          </a:p>
          <a:p>
            <a:pPr>
              <a:spcAft>
                <a:spcPts val="1200"/>
              </a:spcAft>
              <a:defRPr sz="1600">
                <a:solidFill>
                  <a:srgbClr val="DCDCDC"/>
                </a:solidFill>
                <a:latin typeface="Segoe UI"/>
              </a:defRPr>
            </a:pPr>
            <a:r>
              <a:t>•  • Hotspot aggregation &amp; priority scoring</a:t>
            </a:r>
          </a:p>
          <a:p>
            <a:pPr>
              <a:spcAft>
                <a:spcPts val="1200"/>
              </a:spcAft>
              <a:defRPr sz="1600">
                <a:solidFill>
                  <a:srgbClr val="DCDCDC"/>
                </a:solidFill>
                <a:latin typeface="Segoe UI"/>
              </a:defRPr>
            </a:pPr>
            <a:r>
              <a:t>•  • Siamese Neural Network before/after audit</a:t>
            </a:r>
          </a:p>
          <a:p>
            <a:pPr>
              <a:spcAft>
                <a:spcPts val="1200"/>
              </a:spcAft>
              <a:defRPr sz="1600">
                <a:solidFill>
                  <a:srgbClr val="DCDCDC"/>
                </a:solidFill>
                <a:latin typeface="Segoe UI"/>
              </a:defRPr>
            </a:pPr>
            <a:r>
              <a:t>•  • Gamified redeemable cash-credit incentive loop</a:t>
            </a:r>
          </a:p>
        </p:txBody>
      </p:sp>
      <p:sp>
        <p:nvSpPr>
          <p:cNvPr id="10" name="Rounded Rectangle 9"/>
          <p:cNvSpPr/>
          <p:nvPr/>
        </p:nvSpPr>
        <p:spPr>
          <a:xfrm>
            <a:off x="731520" y="5760720"/>
            <a:ext cx="7772400" cy="731520"/>
          </a:xfrm>
          <a:prstGeom prst="roundRect">
            <a:avLst/>
          </a:prstGeom>
          <a:solidFill>
            <a:srgbClr val="202020"/>
          </a:solidFill>
          <a:ln>
            <a:solidFill>
              <a:srgbClr val="1ED7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806440"/>
            <a:ext cx="7589520" cy="640080"/>
          </a:xfrm>
          <a:prstGeom prst="rect">
            <a:avLst/>
          </a:prstGeom>
          <a:noFill/>
        </p:spPr>
        <p:txBody>
          <a:bodyPr wrap="square">
            <a:spAutoFit/>
          </a:bodyPr>
          <a:lstStyle/>
          <a:p>
            <a:pPr>
              <a:defRPr sz="1100" i="1">
                <a:solidFill>
                  <a:srgbClr val="1ED760"/>
                </a:solidFill>
                <a:latin typeface="Segoe UI"/>
              </a:defRPr>
            </a:pPr>
            <a:r>
              <a:t>Visual Concept: Side-by-side comparison matrix with green checkmarks and red flags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51560"/>
            <a:ext cx="10728655" cy="36576"/>
          </a:xfrm>
          <a:prstGeom prst="rect">
            <a:avLst/>
          </a:prstGeom>
          <a:solidFill>
            <a:srgbClr val="1ED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728655" cy="822960"/>
          </a:xfrm>
          <a:prstGeom prst="rect">
            <a:avLst/>
          </a:prstGeom>
          <a:noFill/>
        </p:spPr>
        <p:txBody>
          <a:bodyPr wrap="square">
            <a:spAutoFit/>
          </a:bodyPr>
          <a:lstStyle/>
          <a:p>
            <a:pPr>
              <a:defRPr sz="2800" b="1">
                <a:solidFill>
                  <a:srgbClr val="FFFFFF"/>
                </a:solidFill>
                <a:latin typeface="Segoe UI"/>
              </a:defRPr>
            </a:pPr>
            <a:r>
              <a:t>Economic Viability &amp; Gamified Incentives</a:t>
            </a:r>
          </a:p>
        </p:txBody>
      </p:sp>
      <p:sp>
        <p:nvSpPr>
          <p:cNvPr id="6" name="TextBox 5"/>
          <p:cNvSpPr txBox="1"/>
          <p:nvPr/>
        </p:nvSpPr>
        <p:spPr>
          <a:xfrm>
            <a:off x="731520" y="1371600"/>
            <a:ext cx="10728655" cy="4114800"/>
          </a:xfrm>
          <a:prstGeom prst="rect">
            <a:avLst/>
          </a:prstGeom>
          <a:noFill/>
        </p:spPr>
        <p:txBody>
          <a:bodyPr wrap="square">
            <a:spAutoFit/>
          </a:bodyPr>
          <a:lstStyle/>
          <a:p>
            <a:pPr>
              <a:spcAft>
                <a:spcPts val="1400"/>
              </a:spcAft>
              <a:defRPr sz="1800">
                <a:solidFill>
                  <a:srgbClr val="DCDCDC"/>
                </a:solidFill>
                <a:latin typeface="Segoe UI"/>
              </a:defRPr>
            </a:pPr>
            <a:r>
              <a:t>•  Citizen Credit Rewards: Active citizens earn redeemable points for validated waste submissions.</a:t>
            </a:r>
          </a:p>
          <a:p>
            <a:pPr>
              <a:spcAft>
                <a:spcPts val="1400"/>
              </a:spcAft>
              <a:defRPr sz="1800">
                <a:solidFill>
                  <a:srgbClr val="DCDCDC"/>
                </a:solidFill>
                <a:latin typeface="Segoe UI"/>
              </a:defRPr>
            </a:pPr>
            <a:r>
              <a:t>•  Performance-Based Sanitation Wages: Cleaning staff receive automated bonus credits upon verified job completion.</a:t>
            </a:r>
          </a:p>
          <a:p>
            <a:pPr>
              <a:spcAft>
                <a:spcPts val="1400"/>
              </a:spcAft>
              <a:defRPr sz="1800">
                <a:solidFill>
                  <a:srgbClr val="DCDCDC"/>
                </a:solidFill>
                <a:latin typeface="Segoe UI"/>
              </a:defRPr>
            </a:pPr>
            <a:r>
              <a:t>•  Redemption Mechanism: Points convert into municipal tax credits, utility rebates, or direct cash incentives.</a:t>
            </a:r>
          </a:p>
          <a:p>
            <a:pPr>
              <a:spcAft>
                <a:spcPts val="1400"/>
              </a:spcAft>
              <a:defRPr sz="1800">
                <a:solidFill>
                  <a:srgbClr val="DCDCDC"/>
                </a:solidFill>
                <a:latin typeface="Segoe UI"/>
              </a:defRPr>
            </a:pPr>
            <a:r>
              <a:t>•  Operational Cost Savings: 40%+ reduction in redundant municipal inspection rounds and false callouts.</a:t>
            </a:r>
          </a:p>
        </p:txBody>
      </p:sp>
      <p:sp>
        <p:nvSpPr>
          <p:cNvPr id="7" name="Rounded Rectangle 6"/>
          <p:cNvSpPr/>
          <p:nvPr/>
        </p:nvSpPr>
        <p:spPr>
          <a:xfrm>
            <a:off x="731520" y="5760720"/>
            <a:ext cx="7772400" cy="731520"/>
          </a:xfrm>
          <a:prstGeom prst="roundRect">
            <a:avLst/>
          </a:prstGeom>
          <a:solidFill>
            <a:srgbClr val="202020"/>
          </a:solidFill>
          <a:ln>
            <a:solidFill>
              <a:srgbClr val="1ED7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806440"/>
            <a:ext cx="7589520" cy="640080"/>
          </a:xfrm>
          <a:prstGeom prst="rect">
            <a:avLst/>
          </a:prstGeom>
          <a:noFill/>
        </p:spPr>
        <p:txBody>
          <a:bodyPr wrap="square">
            <a:spAutoFit/>
          </a:bodyPr>
          <a:lstStyle/>
          <a:p>
            <a:pPr>
              <a:defRPr sz="1100" i="1">
                <a:solidFill>
                  <a:srgbClr val="1ED760"/>
                </a:solidFill>
                <a:latin typeface="Segoe UI"/>
              </a:defRPr>
            </a:pPr>
            <a:r>
              <a:t>Visual Concept: Incentive flywheel graphic illustrating citizen report -&gt; AI audit -&gt; cleaner dispatch -&gt; cash reward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51560"/>
            <a:ext cx="10728655" cy="36576"/>
          </a:xfrm>
          <a:prstGeom prst="rect">
            <a:avLst/>
          </a:prstGeom>
          <a:solidFill>
            <a:srgbClr val="1ED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728655" cy="822960"/>
          </a:xfrm>
          <a:prstGeom prst="rect">
            <a:avLst/>
          </a:prstGeom>
          <a:noFill/>
        </p:spPr>
        <p:txBody>
          <a:bodyPr wrap="square">
            <a:spAutoFit/>
          </a:bodyPr>
          <a:lstStyle/>
          <a:p>
            <a:pPr>
              <a:defRPr sz="2800" b="1">
                <a:solidFill>
                  <a:srgbClr val="FFFFFF"/>
                </a:solidFill>
                <a:latin typeface="Segoe UI"/>
              </a:defRPr>
            </a:pPr>
            <a:r>
              <a:t>Implementation Roadmap &amp; Impact Metrics</a:t>
            </a:r>
          </a:p>
        </p:txBody>
      </p:sp>
      <p:sp>
        <p:nvSpPr>
          <p:cNvPr id="6" name="TextBox 5"/>
          <p:cNvSpPr txBox="1"/>
          <p:nvPr/>
        </p:nvSpPr>
        <p:spPr>
          <a:xfrm>
            <a:off x="731520" y="1371600"/>
            <a:ext cx="10728655" cy="4114800"/>
          </a:xfrm>
          <a:prstGeom prst="rect">
            <a:avLst/>
          </a:prstGeom>
          <a:noFill/>
        </p:spPr>
        <p:txBody>
          <a:bodyPr wrap="square">
            <a:spAutoFit/>
          </a:bodyPr>
          <a:lstStyle/>
          <a:p>
            <a:pPr>
              <a:spcAft>
                <a:spcPts val="1400"/>
              </a:spcAft>
              <a:defRPr sz="1800">
                <a:solidFill>
                  <a:srgbClr val="DCDCDC"/>
                </a:solidFill>
                <a:latin typeface="Segoe UI"/>
              </a:defRPr>
            </a:pPr>
            <a:r>
              <a:t>•  Phase 1: Pilot deployment in high-density municipal wards across Tamil Nadu and Delhi.</a:t>
            </a:r>
          </a:p>
          <a:p>
            <a:pPr>
              <a:spcAft>
                <a:spcPts val="1400"/>
              </a:spcAft>
              <a:defRPr sz="1800">
                <a:solidFill>
                  <a:srgbClr val="DCDCDC"/>
                </a:solidFill>
                <a:latin typeface="Segoe UI"/>
              </a:defRPr>
            </a:pPr>
            <a:r>
              <a:t>•  Phase 2: Integration with municipal GIS command centers and automated truck routing.</a:t>
            </a:r>
          </a:p>
          <a:p>
            <a:pPr>
              <a:spcAft>
                <a:spcPts val="1400"/>
              </a:spcAft>
              <a:defRPr sz="1800">
                <a:solidFill>
                  <a:srgbClr val="DCDCDC"/>
                </a:solidFill>
                <a:latin typeface="Segoe UI"/>
              </a:defRPr>
            </a:pPr>
            <a:r>
              <a:t>•  Phase 3: Nationwide expansion with multi-lingual voice prompts and offline geo-caching.</a:t>
            </a:r>
          </a:p>
          <a:p>
            <a:pPr>
              <a:spcAft>
                <a:spcPts val="1400"/>
              </a:spcAft>
              <a:defRPr sz="1800">
                <a:solidFill>
                  <a:srgbClr val="DCDCDC"/>
                </a:solidFill>
                <a:latin typeface="Segoe UI"/>
              </a:defRPr>
            </a:pPr>
            <a:r>
              <a:t>•  Target KPI: 75% reduction in complaint-to-cleanup turnaround time and 90%+ citizen satisfaction.</a:t>
            </a:r>
          </a:p>
        </p:txBody>
      </p:sp>
      <p:sp>
        <p:nvSpPr>
          <p:cNvPr id="7" name="Rounded Rectangle 6"/>
          <p:cNvSpPr/>
          <p:nvPr/>
        </p:nvSpPr>
        <p:spPr>
          <a:xfrm>
            <a:off x="731520" y="5760720"/>
            <a:ext cx="7772400" cy="731520"/>
          </a:xfrm>
          <a:prstGeom prst="roundRect">
            <a:avLst/>
          </a:prstGeom>
          <a:solidFill>
            <a:srgbClr val="202020"/>
          </a:solidFill>
          <a:ln>
            <a:solidFill>
              <a:srgbClr val="1ED7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806440"/>
            <a:ext cx="7589520" cy="640080"/>
          </a:xfrm>
          <a:prstGeom prst="rect">
            <a:avLst/>
          </a:prstGeom>
          <a:noFill/>
        </p:spPr>
        <p:txBody>
          <a:bodyPr wrap="square">
            <a:spAutoFit/>
          </a:bodyPr>
          <a:lstStyle/>
          <a:p>
            <a:pPr>
              <a:defRPr sz="1100" i="1">
                <a:solidFill>
                  <a:srgbClr val="1ED760"/>
                </a:solidFill>
                <a:latin typeface="Segoe UI"/>
              </a:defRPr>
            </a:pPr>
            <a:r>
              <a:t>Visual Concept: 3-stage horizontal milestone timeline with key performance indicator badges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51560"/>
            <a:ext cx="10728655" cy="36576"/>
          </a:xfrm>
          <a:prstGeom prst="rect">
            <a:avLst/>
          </a:prstGeom>
          <a:solidFill>
            <a:srgbClr val="1ED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728655" cy="822960"/>
          </a:xfrm>
          <a:prstGeom prst="rect">
            <a:avLst/>
          </a:prstGeom>
          <a:noFill/>
        </p:spPr>
        <p:txBody>
          <a:bodyPr wrap="square">
            <a:spAutoFit/>
          </a:bodyPr>
          <a:lstStyle/>
          <a:p>
            <a:pPr>
              <a:defRPr sz="2800" b="1">
                <a:solidFill>
                  <a:srgbClr val="FFFFFF"/>
                </a:solidFill>
                <a:latin typeface="Segoe UI"/>
              </a:defRPr>
            </a:pPr>
            <a:r>
              <a:t>Join Us in Revolutionizing Urban Sanitation</a:t>
            </a:r>
          </a:p>
        </p:txBody>
      </p:sp>
      <p:sp>
        <p:nvSpPr>
          <p:cNvPr id="6" name="TextBox 5"/>
          <p:cNvSpPr txBox="1"/>
          <p:nvPr/>
        </p:nvSpPr>
        <p:spPr>
          <a:xfrm>
            <a:off x="731520" y="1371600"/>
            <a:ext cx="10728655" cy="4114800"/>
          </a:xfrm>
          <a:prstGeom prst="rect">
            <a:avLst/>
          </a:prstGeom>
          <a:noFill/>
        </p:spPr>
        <p:txBody>
          <a:bodyPr wrap="square">
            <a:spAutoFit/>
          </a:bodyPr>
          <a:lstStyle/>
          <a:p/>
        </p:txBody>
      </p:sp>
      <p:sp>
        <p:nvSpPr>
          <p:cNvPr id="7" name="Rounded Rectangle 6"/>
          <p:cNvSpPr/>
          <p:nvPr/>
        </p:nvSpPr>
        <p:spPr>
          <a:xfrm>
            <a:off x="731520" y="5760720"/>
            <a:ext cx="7772400" cy="731520"/>
          </a:xfrm>
          <a:prstGeom prst="roundRect">
            <a:avLst/>
          </a:prstGeom>
          <a:solidFill>
            <a:srgbClr val="202020"/>
          </a:solidFill>
          <a:ln>
            <a:solidFill>
              <a:srgbClr val="1ED7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806440"/>
            <a:ext cx="7589520" cy="640080"/>
          </a:xfrm>
          <a:prstGeom prst="rect">
            <a:avLst/>
          </a:prstGeom>
          <a:noFill/>
        </p:spPr>
        <p:txBody>
          <a:bodyPr wrap="square">
            <a:spAutoFit/>
          </a:bodyPr>
          <a:lstStyle/>
          <a:p>
            <a:pPr>
              <a:defRPr sz="1100" i="1">
                <a:solidFill>
                  <a:srgbClr val="1ED760"/>
                </a:solidFill>
                <a:latin typeface="Segoe UI"/>
              </a:defRPr>
            </a:pPr>
            <a:r>
              <a:t>Visual Concept: Bold call-to-action summary slide with emerald accents and contact information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